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6" r:id="rId2"/>
    <p:sldId id="262" r:id="rId3"/>
    <p:sldId id="268" r:id="rId4"/>
    <p:sldId id="269" r:id="rId5"/>
    <p:sldId id="265" r:id="rId6"/>
    <p:sldId id="266" r:id="rId7"/>
    <p:sldId id="267" r:id="rId8"/>
    <p:sldId id="263" r:id="rId9"/>
    <p:sldId id="264" r:id="rId10"/>
    <p:sldId id="260" r:id="rId11"/>
    <p:sldId id="270" r:id="rId12"/>
    <p:sldId id="261" r:id="rId13"/>
    <p:sldId id="257" r:id="rId14"/>
    <p:sldId id="258" r:id="rId15"/>
    <p:sldId id="259" r:id="rId16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620"/>
    <p:restoredTop sz="94660"/>
  </p:normalViewPr>
  <p:slideViewPr>
    <p:cSldViewPr>
      <p:cViewPr varScale="1">
        <p:scale>
          <a:sx n="81" d="100"/>
          <a:sy n="81" d="100"/>
        </p:scale>
        <p:origin x="-1421" y="-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Isosceles Triangle 6"/>
          <p:cNvSpPr/>
          <p:nvPr/>
        </p:nvSpPr>
        <p:spPr>
          <a:xfrm rot="16200000">
            <a:off x="7554353" y="5254283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540544" y="776288"/>
            <a:ext cx="8062912" cy="1470025"/>
          </a:xfrm>
        </p:spPr>
        <p:txBody>
          <a:bodyPr anchor="b">
            <a:normAutofit/>
          </a:bodyPr>
          <a:lstStyle>
            <a:lvl1pPr algn="r">
              <a:defRPr sz="440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540544" y="2250280"/>
            <a:ext cx="8062912" cy="1752600"/>
          </a:xfrm>
        </p:spPr>
        <p:txBody>
          <a:bodyPr/>
          <a:lstStyle>
            <a:lvl1pPr marL="0" marR="36576" indent="0" algn="r">
              <a:spcBef>
                <a:spcPts val="0"/>
              </a:spcBef>
              <a:buNone/>
              <a:defRPr>
                <a:ln>
                  <a:solidFill>
                    <a:schemeClr val="bg2"/>
                  </a:solidFill>
                </a:ln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Date Placeholder 27"/>
          <p:cNvSpPr>
            <a:spLocks noGrp="1"/>
          </p:cNvSpPr>
          <p:nvPr>
            <p:ph type="dt" sz="half" idx="10"/>
          </p:nvPr>
        </p:nvSpPr>
        <p:spPr>
          <a:xfrm>
            <a:off x="1371600" y="6012656"/>
            <a:ext cx="5791200" cy="365125"/>
          </a:xfrm>
        </p:spPr>
        <p:txBody>
          <a:bodyPr tIns="0" bIns="0" anchor="t"/>
          <a:lstStyle>
            <a:lvl1pPr algn="r">
              <a:defRPr sz="1000"/>
            </a:lvl1pPr>
          </a:lstStyle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</p:nvPr>
        </p:nvSpPr>
        <p:spPr>
          <a:xfrm>
            <a:off x="1371600" y="5650704"/>
            <a:ext cx="5791200" cy="365125"/>
          </a:xfrm>
        </p:spPr>
        <p:txBody>
          <a:bodyPr tIns="0" bIns="0" anchor="b"/>
          <a:lstStyle>
            <a:lvl1pPr algn="r">
              <a:defRPr sz="1100"/>
            </a:lvl1pPr>
          </a:lstStyle>
          <a:p>
            <a:endParaRPr lang="en-US"/>
          </a:p>
        </p:txBody>
      </p:sp>
      <p:sp>
        <p:nvSpPr>
          <p:cNvPr id="29" name="Slide Number Placeholder 28"/>
          <p:cNvSpPr>
            <a:spLocks noGrp="1"/>
          </p:cNvSpPr>
          <p:nvPr>
            <p:ph type="sldNum" sz="quarter" idx="12"/>
          </p:nvPr>
        </p:nvSpPr>
        <p:spPr>
          <a:xfrm>
            <a:off x="8392247" y="5752307"/>
            <a:ext cx="502920" cy="365125"/>
          </a:xfrm>
        </p:spPr>
        <p:txBody>
          <a:bodyPr anchor="ctr"/>
          <a:lstStyle>
            <a:lvl1pPr algn="ctr">
              <a:defRPr sz="1300">
                <a:solidFill>
                  <a:srgbClr val="FFFFFF"/>
                </a:solidFill>
              </a:defRPr>
            </a:lvl1pPr>
          </a:lstStyle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</p:spPr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882808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791456" y="6480048"/>
            <a:ext cx="2133600" cy="301752"/>
          </a:xfrm>
        </p:spPr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ight Triangle 8"/>
          <p:cNvSpPr/>
          <p:nvPr/>
        </p:nvSpPr>
        <p:spPr>
          <a:xfrm flipV="1">
            <a:off x="7034" y="7034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0" algn="ctr" defTabSz="914400" rtl="0" eaLnBrk="1" latinLnBrk="0" hangingPunct="1"/>
            <a:endParaRPr kumimoji="0" lang="en-US" sz="1800" kern="1200">
              <a:solidFill>
                <a:schemeClr val="lt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 flipV="1">
            <a:off x="7554353" y="309490"/>
            <a:ext cx="1892949" cy="1294228"/>
          </a:xfrm>
          <a:prstGeom prst="triangle">
            <a:avLst>
              <a:gd name="adj" fmla="val 51323"/>
            </a:avLst>
          </a:prstGeom>
          <a:gradFill flip="none" rotWithShape="1">
            <a:gsLst>
              <a:gs pos="0">
                <a:schemeClr val="accent1">
                  <a:shade val="30000"/>
                  <a:satMod val="155000"/>
                  <a:alpha val="100000"/>
                </a:schemeClr>
              </a:gs>
              <a:gs pos="60000">
                <a:schemeClr val="accent1">
                  <a:satMod val="160000"/>
                  <a:alpha val="100000"/>
                </a:schemeClr>
              </a:gs>
              <a:gs pos="100000">
                <a:schemeClr val="accent1">
                  <a:tint val="70000"/>
                  <a:satMod val="200000"/>
                  <a:alpha val="100000"/>
                </a:schemeClr>
              </a:gs>
            </a:gsLst>
            <a:lin ang="155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955632" y="6477000"/>
            <a:ext cx="2133600" cy="304800"/>
          </a:xfrm>
        </p:spPr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19376" y="6480969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451056" y="809624"/>
            <a:ext cx="502920" cy="300831"/>
          </a:xfrm>
        </p:spPr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1" name="Straight Connector 10"/>
          <p:cNvCxnSpPr/>
          <p:nvPr/>
        </p:nvCxnSpPr>
        <p:spPr>
          <a:xfrm rot="10800000">
            <a:off x="6468794" y="9381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 flipV="1"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271464"/>
            <a:ext cx="7239000" cy="1362075"/>
          </a:xfrm>
        </p:spPr>
        <p:txBody>
          <a:bodyPr anchor="ctr"/>
          <a:lstStyle>
            <a:lvl1pPr marL="0" algn="l">
              <a:buNone/>
              <a:defRPr sz="3600" b="1" cap="none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1000" y="1633536"/>
            <a:ext cx="3886200" cy="2286000"/>
          </a:xfrm>
        </p:spPr>
        <p:txBody>
          <a:bodyPr anchor="t"/>
          <a:lstStyle>
            <a:lvl1pPr marL="54864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 algn="l"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722437"/>
            <a:ext cx="4038600" cy="4525963"/>
          </a:xfrm>
        </p:spPr>
        <p:txBody>
          <a:bodyPr/>
          <a:lstStyle>
            <a:lvl1pPr>
              <a:defRPr sz="26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0056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8198" y="290732"/>
            <a:ext cx="1066800" cy="6153912"/>
          </a:xfrm>
        </p:spPr>
        <p:txBody>
          <a:bodyPr vert="vert270" anchor="b"/>
          <a:lstStyle>
            <a:lvl1pPr marL="0" algn="ctr">
              <a:defRPr sz="3300" b="1">
                <a:ln w="6350">
                  <a:solidFill>
                    <a:schemeClr val="tx1"/>
                  </a:solidFill>
                </a:ln>
                <a:solidFill>
                  <a:schemeClr val="tx1"/>
                </a:solidFill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65006" y="290732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1365006" y="3427124"/>
            <a:ext cx="581024" cy="3017520"/>
          </a:xfrm>
          <a:solidFill>
            <a:schemeClr val="bg1"/>
          </a:solidFill>
          <a:ln w="12700">
            <a:noFill/>
          </a:ln>
        </p:spPr>
        <p:txBody>
          <a:bodyPr vert="vert270" anchor="ctr"/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2022230" y="290732"/>
            <a:ext cx="6858000" cy="3017520"/>
          </a:xfrm>
        </p:spPr>
        <p:txBody>
          <a:bodyPr/>
          <a:lstStyle>
            <a:lvl1pPr algn="l">
              <a:defRPr sz="2400"/>
            </a:lvl1pPr>
            <a:lvl2pPr algn="l">
              <a:defRPr sz="2000"/>
            </a:lvl2pPr>
            <a:lvl3pPr algn="l">
              <a:defRPr sz="1800"/>
            </a:lvl3pPr>
            <a:lvl4pPr algn="l">
              <a:defRPr sz="1600"/>
            </a:lvl4pPr>
            <a:lvl5pPr algn="l"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022230" y="3427124"/>
            <a:ext cx="6858000" cy="301752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0552" cy="301752"/>
          </a:xfrm>
        </p:spPr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457200" y="6480969"/>
            <a:ext cx="4261104" cy="301752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7589520" y="6483096"/>
            <a:ext cx="502920" cy="301752"/>
          </a:xfrm>
        </p:spPr>
        <p:txBody>
          <a:bodyPr/>
          <a:lstStyle>
            <a:lvl1pPr algn="ctr">
              <a:defRPr/>
            </a:lvl1pPr>
          </a:lstStyle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4791456" y="6480969"/>
            <a:ext cx="2133600" cy="301752"/>
          </a:xfrm>
        </p:spPr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457200" y="6481890"/>
            <a:ext cx="4260056" cy="300831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7589520" y="6480969"/>
            <a:ext cx="502920" cy="301752"/>
          </a:xfrm>
        </p:spPr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367664"/>
            <a:ext cx="914400" cy="5943600"/>
          </a:xfrm>
        </p:spPr>
        <p:txBody>
          <a:bodyPr vert="vert270" anchor="b"/>
          <a:lstStyle>
            <a:lvl1pPr marL="0" marR="18288" algn="r">
              <a:spcBef>
                <a:spcPts val="0"/>
              </a:spcBef>
              <a:buNone/>
              <a:defRPr sz="29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1135856" y="367664"/>
            <a:ext cx="2438400" cy="5943600"/>
          </a:xfrm>
        </p:spPr>
        <p:txBody>
          <a:bodyPr anchor="t"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3651250" y="320040"/>
            <a:ext cx="5276088" cy="5989320"/>
          </a:xfrm>
        </p:spPr>
        <p:txBody>
          <a:bodyPr/>
          <a:lstStyle>
            <a:lvl1pPr>
              <a:spcBef>
                <a:spcPts val="0"/>
              </a:spcBef>
              <a:defRPr sz="3000"/>
            </a:lvl1pPr>
            <a:lvl2pPr>
              <a:defRPr sz="26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278976" y="6556248"/>
            <a:ext cx="2133600" cy="301752"/>
          </a:xfrm>
        </p:spPr>
        <p:txBody>
          <a:bodyPr/>
          <a:lstStyle>
            <a:lvl1pPr>
              <a:defRPr sz="900"/>
            </a:lvl1pPr>
          </a:lstStyle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35856" y="6556248"/>
            <a:ext cx="5143120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410576" y="6556248"/>
            <a:ext cx="502920" cy="301752"/>
          </a:xfrm>
        </p:spPr>
        <p:txBody>
          <a:bodyPr/>
          <a:lstStyle>
            <a:lvl1pPr>
              <a:defRPr sz="900"/>
            </a:lvl1pPr>
          </a:lstStyle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9456" y="150896"/>
            <a:ext cx="914400" cy="6400800"/>
          </a:xfrm>
        </p:spPr>
        <p:txBody>
          <a:bodyPr vert="vert270" anchor="b"/>
          <a:lstStyle>
            <a:lvl1pPr marL="0" algn="l">
              <a:buNone/>
              <a:defRPr sz="3000" b="0" cap="all" baseline="0"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138237" y="373966"/>
            <a:ext cx="7333488" cy="5486400"/>
          </a:xfrm>
          <a:solidFill>
            <a:schemeClr val="bg2">
              <a:shade val="50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3000" y="5867400"/>
            <a:ext cx="7333488" cy="685800"/>
          </a:xfrm>
          <a:solidFill>
            <a:schemeClr val="accent1">
              <a:alpha val="15000"/>
            </a:schemeClr>
          </a:solidFill>
          <a:ln>
            <a:solidFill>
              <a:schemeClr val="accent1"/>
            </a:solidFill>
            <a:miter lim="800000"/>
          </a:ln>
        </p:spPr>
        <p:txBody>
          <a:bodyPr/>
          <a:lstStyle>
            <a:lvl1pPr marL="0" indent="0">
              <a:spcBef>
                <a:spcPts val="0"/>
              </a:spcBef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108192" y="6556248"/>
            <a:ext cx="2103120" cy="301752"/>
          </a:xfrm>
        </p:spPr>
        <p:txBody>
          <a:bodyPr/>
          <a:lstStyle>
            <a:lvl1pPr>
              <a:defRPr sz="900"/>
            </a:lvl1pPr>
          </a:lstStyle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170432" y="6557169"/>
            <a:ext cx="4948072" cy="301752"/>
          </a:xfrm>
        </p:spPr>
        <p:txBody>
          <a:bodyPr/>
          <a:lstStyle>
            <a:lvl1pPr>
              <a:defRPr sz="9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8217192" y="6556248"/>
            <a:ext cx="365760" cy="301752"/>
          </a:xfrm>
        </p:spPr>
        <p:txBody>
          <a:bodyPr/>
          <a:lstStyle>
            <a:lvl1pPr algn="ctr">
              <a:defRPr sz="900"/>
            </a:lvl1pPr>
          </a:lstStyle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81800" y="381000"/>
            <a:ext cx="1905000" cy="5486400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381000"/>
            <a:ext cx="6248400" cy="5486400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ight Triangle 10"/>
          <p:cNvSpPr/>
          <p:nvPr/>
        </p:nvSpPr>
        <p:spPr>
          <a:xfrm>
            <a:off x="7034" y="14068"/>
            <a:ext cx="9129932" cy="6836899"/>
          </a:xfrm>
          <a:prstGeom prst="rtTriangle">
            <a:avLst/>
          </a:prstGeom>
          <a:gradFill flip="none" rotWithShape="1">
            <a:gsLst>
              <a:gs pos="0">
                <a:schemeClr val="tx2">
                  <a:alpha val="10000"/>
                </a:schemeClr>
              </a:gs>
              <a:gs pos="70000">
                <a:schemeClr val="tx2">
                  <a:alpha val="8000"/>
                </a:schemeClr>
              </a:gs>
              <a:gs pos="100000">
                <a:schemeClr val="tx2">
                  <a:alpha val="1000"/>
                </a:schemeClr>
              </a:gs>
            </a:gsLst>
            <a:lin ang="8000000" scaled="1"/>
            <a:tileRect/>
          </a:gradFill>
          <a:ln w="38100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0" y="7034"/>
            <a:ext cx="9136966" cy="6843933"/>
          </a:xfrm>
          <a:prstGeom prst="line">
            <a:avLst/>
          </a:prstGeom>
          <a:noFill/>
          <a:ln w="5000" cap="rnd" cmpd="sng" algn="ctr">
            <a:solidFill>
              <a:schemeClr val="bg2">
                <a:tint val="55000"/>
                <a:satMod val="200000"/>
                <a:alpha val="3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 rot="10800000" flipV="1">
            <a:off x="6468794" y="4948410"/>
            <a:ext cx="2672861" cy="1900210"/>
          </a:xfrm>
          <a:prstGeom prst="line">
            <a:avLst/>
          </a:prstGeom>
          <a:noFill/>
          <a:ln w="6000" cap="rnd" cmpd="sng" algn="ctr">
            <a:solidFill>
              <a:schemeClr val="bg2">
                <a:tint val="50000"/>
                <a:satMod val="200000"/>
                <a:alpha val="45000"/>
              </a:schemeClr>
            </a:solidFill>
            <a:prstDash val="solid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Title Placeholder 21"/>
          <p:cNvSpPr>
            <a:spLocks noGrp="1"/>
          </p:cNvSpPr>
          <p:nvPr>
            <p:ph type="title"/>
          </p:nvPr>
        </p:nvSpPr>
        <p:spPr>
          <a:xfrm>
            <a:off x="457200" y="267494"/>
            <a:ext cx="8229600" cy="1399032"/>
          </a:xfrm>
          <a:prstGeom prst="rect">
            <a:avLst/>
          </a:prstGeom>
        </p:spPr>
        <p:txBody>
          <a:bodyPr vert="horz" anchor="ctr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3" name="Text Placeholder 12"/>
          <p:cNvSpPr>
            <a:spLocks noGrp="1"/>
          </p:cNvSpPr>
          <p:nvPr>
            <p:ph type="body" idx="1"/>
          </p:nvPr>
        </p:nvSpPr>
        <p:spPr>
          <a:xfrm>
            <a:off x="457200" y="1882808"/>
            <a:ext cx="8229600" cy="4572000"/>
          </a:xfrm>
          <a:prstGeom prst="rect">
            <a:avLst/>
          </a:prstGeom>
        </p:spPr>
        <p:txBody>
          <a:bodyPr vert="horz" anchor="t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2"/>
          </p:nvPr>
        </p:nvSpPr>
        <p:spPr>
          <a:xfrm>
            <a:off x="4791456" y="6480969"/>
            <a:ext cx="2133600" cy="301752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16D3BE92-6F05-4323-85BA-68F8CAF9E613}" type="datetimeFigureOut">
              <a:rPr lang="en-US" smtClean="0"/>
              <a:pPr/>
              <a:t>12/5/2024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3"/>
          </p:nvPr>
        </p:nvSpPr>
        <p:spPr>
          <a:xfrm>
            <a:off x="457200" y="6481890"/>
            <a:ext cx="4260056" cy="300831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23" name="Slide Number Placeholder 22"/>
          <p:cNvSpPr>
            <a:spLocks noGrp="1"/>
          </p:cNvSpPr>
          <p:nvPr>
            <p:ph type="sldNum" sz="quarter" idx="4"/>
          </p:nvPr>
        </p:nvSpPr>
        <p:spPr>
          <a:xfrm>
            <a:off x="7589520" y="6480969"/>
            <a:ext cx="502920" cy="301752"/>
          </a:xfrm>
          <a:prstGeom prst="rect">
            <a:avLst/>
          </a:prstGeom>
        </p:spPr>
        <p:txBody>
          <a:bodyPr vert="horz" anchor="b"/>
          <a:lstStyle>
            <a:lvl1pPr algn="ctr" eaLnBrk="1" latinLnBrk="0" hangingPunct="1">
              <a:defRPr kumimoji="0" sz="1200">
                <a:solidFill>
                  <a:schemeClr val="tx1"/>
                </a:solidFill>
              </a:defRPr>
            </a:lvl1pPr>
          </a:lstStyle>
          <a:p>
            <a:fld id="{6E0C73DE-8AB1-447A-996A-36C528F720A3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marL="484632" algn="l" rtl="0" eaLnBrk="1" latinLnBrk="0" hangingPunct="1">
        <a:spcBef>
          <a:spcPct val="0"/>
        </a:spcBef>
        <a:buNone/>
        <a:defRPr kumimoji="0" sz="4200" kern="1200">
          <a:ln w="6350">
            <a:solidFill>
              <a:schemeClr val="accent1">
                <a:shade val="43000"/>
              </a:schemeClr>
            </a:solidFill>
          </a:ln>
          <a:solidFill>
            <a:schemeClr val="accent1">
              <a:tint val="83000"/>
              <a:satMod val="150000"/>
            </a:schemeClr>
          </a:solidFill>
          <a:effectLst>
            <a:outerShdw blurRad="26000" dist="26000" dir="14500000" algn="tl" rotWithShape="0">
              <a:srgbClr val="000000">
                <a:alpha val="40000"/>
              </a:srgbClr>
            </a:outerShdw>
          </a:effectLst>
          <a:latin typeface="+mj-lt"/>
          <a:ea typeface="+mj-ea"/>
          <a:cs typeface="+mj-cs"/>
        </a:defRPr>
      </a:lvl1pPr>
    </p:titleStyle>
    <p:bodyStyle>
      <a:lvl1pPr marL="448056" indent="-384048" algn="l" rtl="0" eaLnBrk="1" latinLnBrk="0" hangingPunct="1">
        <a:spcBef>
          <a:spcPct val="20000"/>
        </a:spcBef>
        <a:buClr>
          <a:schemeClr val="accent1"/>
        </a:buClr>
        <a:buSzPct val="80000"/>
        <a:buFont typeface="Wingdings 2"/>
        <a:buChar char="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822960" indent="-285750" algn="l" rtl="0" eaLnBrk="1" latinLnBrk="0" hangingPunct="1">
        <a:spcBef>
          <a:spcPct val="20000"/>
        </a:spcBef>
        <a:buClr>
          <a:schemeClr val="accent1"/>
        </a:buClr>
        <a:buSzPct val="95000"/>
        <a:buFont typeface="Verdana"/>
        <a:buChar char="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1106424" indent="-228600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indent="-210312" algn="l" rtl="0" eaLnBrk="1" latinLnBrk="0" hangingPunct="1">
        <a:spcBef>
          <a:spcPct val="20000"/>
        </a:spcBef>
        <a:buClr>
          <a:schemeClr val="accent1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6002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084832" indent="-210312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14600" indent="-182880" algn="l" rtl="0" eaLnBrk="1" latinLnBrk="0" hangingPunct="1">
        <a:spcBef>
          <a:spcPct val="20000"/>
        </a:spcBef>
        <a:buClr>
          <a:schemeClr val="accent1">
            <a:tint val="75000"/>
          </a:schemeClr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 smtClean="0"/>
              <a:t>CONCEPTUAL PRACTISE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smtClean="0"/>
              <a:t>LECTURE-5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OLT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let x = [1, 2, 3];</a:t>
            </a:r>
          </a:p>
          <a:p>
            <a:r>
              <a:rPr lang="en-US" dirty="0" smtClean="0"/>
              <a:t>let [, , y] = x;</a:t>
            </a:r>
          </a:p>
          <a:p>
            <a:endParaRPr lang="en-US" dirty="0" smtClean="0"/>
          </a:p>
          <a:p>
            <a:r>
              <a:rPr lang="en-US" dirty="0" smtClean="0"/>
              <a:t>console.log(y);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7200" dirty="0" smtClean="0"/>
              <a:t>FAQs</a:t>
            </a:r>
            <a:endParaRPr lang="en-US" sz="7200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 smtClean="0"/>
              <a:t>Mention some advantages of </a:t>
            </a:r>
            <a:r>
              <a:rPr lang="en-US" b="1" dirty="0" err="1" smtClean="0"/>
              <a:t>javascript</a:t>
            </a:r>
            <a:r>
              <a:rPr lang="en-US" b="1" dirty="0" smtClean="0"/>
              <a:t>.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faqs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Explain Scope and Scope Chain in </a:t>
            </a:r>
            <a:r>
              <a:rPr lang="en-US" b="1" dirty="0" err="1" smtClean="0"/>
              <a:t>javascript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Explain passed by value and passed by reference.</a:t>
            </a:r>
          </a:p>
          <a:p>
            <a:r>
              <a:rPr lang="en-US" b="1" dirty="0" smtClean="0"/>
              <a:t>What is </a:t>
            </a:r>
            <a:r>
              <a:rPr lang="en-US" b="1" dirty="0" err="1" smtClean="0"/>
              <a:t>NaN</a:t>
            </a:r>
            <a:r>
              <a:rPr lang="en-US" b="1" dirty="0" smtClean="0"/>
              <a:t> property in JavaScript?</a:t>
            </a:r>
          </a:p>
          <a:p>
            <a:r>
              <a:rPr lang="en-US" b="1" dirty="0" smtClean="0"/>
              <a:t>Is </a:t>
            </a:r>
            <a:r>
              <a:rPr lang="en-US" b="1" dirty="0" err="1" smtClean="0"/>
              <a:t>javascript</a:t>
            </a:r>
            <a:r>
              <a:rPr lang="en-US" b="1" dirty="0" smtClean="0"/>
              <a:t> a statically typed or a dynamically typed language?</a:t>
            </a:r>
          </a:p>
          <a:p>
            <a:r>
              <a:rPr lang="en-US" b="1" dirty="0" smtClean="0"/>
              <a:t>Why do we use the word “debugger” in </a:t>
            </a:r>
            <a:r>
              <a:rPr lang="en-US" b="1" dirty="0" err="1" smtClean="0"/>
              <a:t>javascript</a:t>
            </a:r>
            <a:r>
              <a:rPr lang="en-US" b="1" dirty="0" smtClean="0"/>
              <a:t>?</a:t>
            </a:r>
          </a:p>
          <a:p>
            <a:r>
              <a:rPr lang="en-US" b="1" dirty="0" smtClean="0"/>
              <a:t>What is a prototype chain in JavaScript?</a:t>
            </a:r>
          </a:p>
          <a:p>
            <a:r>
              <a:rPr lang="en-US" dirty="0" smtClean="0"/>
              <a:t>Hoisting.</a:t>
            </a:r>
          </a:p>
          <a:p>
            <a:r>
              <a:rPr lang="en-US" dirty="0" smtClean="0"/>
              <a:t>How do you create an object in JavaScript?</a:t>
            </a:r>
          </a:p>
          <a:p>
            <a:r>
              <a:rPr lang="en-US" dirty="0" smtClean="0"/>
              <a:t>How do you create an array in JavaScript?</a:t>
            </a:r>
          </a:p>
          <a:p>
            <a:r>
              <a:rPr lang="en-US" b="1" dirty="0" smtClean="0"/>
              <a:t>Write a JavaScript program to find the maximum number in an array.</a:t>
            </a:r>
            <a:r>
              <a:rPr lang="en-US" dirty="0" smtClean="0"/>
              <a:t> </a:t>
            </a:r>
          </a:p>
          <a:p>
            <a:r>
              <a:rPr lang="en-US" b="1" dirty="0" smtClean="0"/>
              <a:t>Write a JavaScript function to calculate the sum of two numbers.</a:t>
            </a:r>
          </a:p>
          <a:p>
            <a:r>
              <a:rPr lang="en-US" dirty="0" smtClean="0"/>
              <a:t>What is the difference between == and === in JavaScript?</a:t>
            </a:r>
          </a:p>
          <a:p>
            <a:r>
              <a:rPr lang="en-US" b="1" dirty="0" smtClean="0"/>
              <a:t>What are some advantages of using External JavaScript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47500" lnSpcReduction="20000"/>
          </a:bodyPr>
          <a:lstStyle/>
          <a:p>
            <a:r>
              <a:rPr lang="en-US" b="1" dirty="0" smtClean="0"/>
              <a:t>Explain Implicit Type Coercion in </a:t>
            </a:r>
            <a:r>
              <a:rPr lang="en-US" b="1" dirty="0" err="1" smtClean="0"/>
              <a:t>javascript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Difference between </a:t>
            </a:r>
            <a:r>
              <a:rPr lang="en-US" b="1" dirty="0" err="1" smtClean="0"/>
              <a:t>var</a:t>
            </a:r>
            <a:r>
              <a:rPr lang="en-US" b="1" dirty="0" smtClean="0"/>
              <a:t> and let keyword in </a:t>
            </a:r>
            <a:r>
              <a:rPr lang="en-US" b="1" dirty="0" err="1" smtClean="0"/>
              <a:t>javascript</a:t>
            </a:r>
            <a:endParaRPr lang="en-US" b="1" dirty="0" smtClean="0"/>
          </a:p>
          <a:p>
            <a:r>
              <a:rPr lang="en-US" b="1" dirty="0" smtClean="0"/>
              <a:t>What is an Immediately Invoked Function in JavaScript?</a:t>
            </a:r>
          </a:p>
          <a:p>
            <a:r>
              <a:rPr lang="en-US" b="1" dirty="0" smtClean="0"/>
              <a:t>What are the different data types present in </a:t>
            </a:r>
            <a:r>
              <a:rPr lang="en-US" b="1" dirty="0" err="1" smtClean="0"/>
              <a:t>javascript</a:t>
            </a:r>
            <a:endParaRPr lang="en-US" b="1" dirty="0" smtClean="0"/>
          </a:p>
          <a:p>
            <a:r>
              <a:rPr lang="en-US" b="1" dirty="0" smtClean="0"/>
              <a:t>What do you mean by strict mode in </a:t>
            </a:r>
            <a:r>
              <a:rPr lang="en-US" b="1" dirty="0" err="1" smtClean="0"/>
              <a:t>javascript</a:t>
            </a:r>
            <a:r>
              <a:rPr lang="en-US" b="1" dirty="0" smtClean="0"/>
              <a:t> and characteristics of </a:t>
            </a:r>
            <a:r>
              <a:rPr lang="en-US" b="1" dirty="0" err="1" smtClean="0"/>
              <a:t>javascript</a:t>
            </a:r>
            <a:r>
              <a:rPr lang="en-US" b="1" dirty="0" smtClean="0"/>
              <a:t> strict-mode?</a:t>
            </a:r>
          </a:p>
          <a:p>
            <a:r>
              <a:rPr lang="en-US" b="1" dirty="0" smtClean="0"/>
              <a:t>Explain Higher Order Functions in </a:t>
            </a:r>
            <a:r>
              <a:rPr lang="en-US" b="1" dirty="0" err="1" smtClean="0"/>
              <a:t>javascript</a:t>
            </a:r>
            <a:r>
              <a:rPr lang="en-US" b="1" dirty="0" smtClean="0"/>
              <a:t>.</a:t>
            </a:r>
          </a:p>
          <a:p>
            <a:r>
              <a:rPr lang="en-US" b="1" dirty="0" smtClean="0"/>
              <a:t>Explain “this” keyword.</a:t>
            </a:r>
          </a:p>
          <a:p>
            <a:r>
              <a:rPr lang="en-US" b="1" dirty="0" smtClean="0"/>
              <a:t>What do you mean by Self Invoking Functions?</a:t>
            </a:r>
          </a:p>
          <a:p>
            <a:r>
              <a:rPr lang="en-US" b="1" dirty="0" smtClean="0"/>
              <a:t>Explain call(), apply() and, bind() methods.</a:t>
            </a:r>
          </a:p>
          <a:p>
            <a:r>
              <a:rPr lang="en-US" b="1" dirty="0" smtClean="0"/>
              <a:t>What is the difference between exec () and test () methods in </a:t>
            </a:r>
            <a:r>
              <a:rPr lang="en-US" b="1" dirty="0" err="1" smtClean="0"/>
              <a:t>javascript</a:t>
            </a:r>
            <a:r>
              <a:rPr lang="en-US" b="1" dirty="0" smtClean="0"/>
              <a:t>?</a:t>
            </a:r>
          </a:p>
          <a:p>
            <a:r>
              <a:rPr lang="en-US" b="1" dirty="0" err="1" smtClean="0"/>
              <a:t>Wh</a:t>
            </a:r>
            <a:endParaRPr lang="en-US" b="1" dirty="0" smtClean="0"/>
          </a:p>
          <a:p>
            <a:r>
              <a:rPr lang="en-US" b="1" dirty="0" smtClean="0"/>
              <a:t>Explain Closures in JavaScript </a:t>
            </a:r>
            <a:r>
              <a:rPr lang="en-US" b="1" dirty="0" smtClean="0"/>
              <a:t>at </a:t>
            </a:r>
            <a:r>
              <a:rPr lang="en-US" b="1" dirty="0" smtClean="0"/>
              <a:t>is currying in JavaScript</a:t>
            </a:r>
            <a:endParaRPr lang="en-US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let x = "false";</a:t>
            </a:r>
          </a:p>
          <a:p>
            <a:r>
              <a:rPr lang="en-US" dirty="0" smtClean="0"/>
              <a:t>let y = !x;</a:t>
            </a:r>
          </a:p>
          <a:p>
            <a:endParaRPr lang="en-US" dirty="0" smtClean="0"/>
          </a:p>
          <a:p>
            <a:r>
              <a:rPr lang="en-US" dirty="0" smtClean="0"/>
              <a:t>console.log(y);</a:t>
            </a:r>
          </a:p>
          <a:p>
            <a:endParaRPr lang="en-US" dirty="0" smtClean="0"/>
          </a:p>
          <a:p>
            <a:r>
              <a:rPr lang="pt-BR" dirty="0" smtClean="0"/>
              <a:t>var num = 8;</a:t>
            </a:r>
          </a:p>
          <a:p>
            <a:r>
              <a:rPr lang="pt-BR" dirty="0" smtClean="0"/>
              <a:t>var num = 10;</a:t>
            </a:r>
          </a:p>
          <a:p>
            <a:endParaRPr lang="pt-BR" dirty="0" smtClean="0"/>
          </a:p>
          <a:p>
            <a:r>
              <a:rPr lang="pt-BR" dirty="0" smtClean="0"/>
              <a:t>console.log(num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let y = "1";</a:t>
            </a:r>
          </a:p>
          <a:p>
            <a:endParaRPr lang="en-US" dirty="0" smtClean="0"/>
          </a:p>
          <a:p>
            <a:r>
              <a:rPr lang="en-US" dirty="0" smtClean="0"/>
              <a:t>console.log(++x, ++y);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s-ES" dirty="0" err="1" smtClean="0"/>
              <a:t>let</a:t>
            </a:r>
            <a:r>
              <a:rPr lang="es-ES" dirty="0" smtClean="0"/>
              <a:t> x = "b";</a:t>
            </a:r>
          </a:p>
          <a:p>
            <a:r>
              <a:rPr lang="es-ES" dirty="0" err="1" smtClean="0"/>
              <a:t>let</a:t>
            </a:r>
            <a:r>
              <a:rPr lang="es-ES" dirty="0" smtClean="0"/>
              <a:t> y = "a";</a:t>
            </a:r>
          </a:p>
          <a:p>
            <a:endParaRPr lang="es-ES" dirty="0" smtClean="0"/>
          </a:p>
          <a:p>
            <a:r>
              <a:rPr lang="en-US" dirty="0" smtClean="0"/>
              <a:t>let x = 1;</a:t>
            </a:r>
          </a:p>
          <a:p>
            <a:r>
              <a:rPr lang="es-ES" dirty="0" smtClean="0"/>
              <a:t>console.log(x + y + + y + y);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console.log(x);</a:t>
            </a:r>
          </a:p>
          <a:p>
            <a:endParaRPr lang="en-US" dirty="0" smtClean="0"/>
          </a:p>
          <a:p>
            <a:r>
              <a:rPr lang="en-US" dirty="0" err="1" smtClean="0"/>
              <a:t>var</a:t>
            </a:r>
            <a:r>
              <a:rPr lang="en-US" dirty="0" smtClean="0"/>
              <a:t> x;</a:t>
            </a:r>
          </a:p>
          <a:p>
            <a:endParaRPr lang="en-US" dirty="0" smtClean="0"/>
          </a:p>
          <a:p>
            <a:r>
              <a:rPr lang="en-US" b="1" dirty="0" smtClean="0"/>
              <a:t>let</a:t>
            </a:r>
            <a:r>
              <a:rPr lang="en-US" dirty="0" smtClean="0"/>
              <a:t> x = [2]; </a:t>
            </a:r>
          </a:p>
          <a:p>
            <a:r>
              <a:rPr lang="en-US" b="1" dirty="0" smtClean="0"/>
              <a:t>let</a:t>
            </a:r>
            <a:r>
              <a:rPr lang="en-US" dirty="0" smtClean="0"/>
              <a:t> y = 2; </a:t>
            </a:r>
          </a:p>
          <a:p>
            <a:r>
              <a:rPr lang="en-US" dirty="0" smtClean="0"/>
              <a:t>console.log(x == y);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let x = true + true;</a:t>
            </a:r>
          </a:p>
          <a:p>
            <a:r>
              <a:rPr lang="en-US" dirty="0" smtClean="0"/>
              <a:t>let y = x + false;</a:t>
            </a:r>
          </a:p>
          <a:p>
            <a:endParaRPr lang="en-US" dirty="0" smtClean="0"/>
          </a:p>
          <a:p>
            <a:r>
              <a:rPr lang="en-US" dirty="0" smtClean="0"/>
              <a:t>console.log(y);</a:t>
            </a:r>
          </a:p>
          <a:p>
            <a:r>
              <a:rPr lang="en-US" dirty="0" smtClean="0"/>
              <a:t>const a = { b: { c: 2 } };</a:t>
            </a:r>
          </a:p>
          <a:p>
            <a:r>
              <a:rPr lang="en-US" dirty="0" smtClean="0"/>
              <a:t>const b = { ...a };</a:t>
            </a:r>
          </a:p>
          <a:p>
            <a:r>
              <a:rPr lang="en-US" dirty="0" err="1" smtClean="0"/>
              <a:t>a.b.c</a:t>
            </a:r>
            <a:r>
              <a:rPr lang="en-US" dirty="0" smtClean="0"/>
              <a:t> = 3;</a:t>
            </a:r>
          </a:p>
          <a:p>
            <a:endParaRPr lang="en-US" dirty="0" smtClean="0"/>
          </a:p>
          <a:p>
            <a:r>
              <a:rPr lang="en-US" dirty="0" smtClean="0"/>
              <a:t>console.log(</a:t>
            </a:r>
            <a:r>
              <a:rPr lang="en-US" dirty="0" err="1" smtClean="0"/>
              <a:t>b.b.c</a:t>
            </a:r>
            <a:r>
              <a:rPr lang="en-US" dirty="0" smtClean="0"/>
              <a:t>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let x = { b: 1, c: 2 };</a:t>
            </a:r>
          </a:p>
          <a:p>
            <a:r>
              <a:rPr lang="en-US" dirty="0" smtClean="0"/>
              <a:t>let y = </a:t>
            </a:r>
            <a:r>
              <a:rPr lang="en-US" dirty="0" err="1" smtClean="0"/>
              <a:t>Object.keys</a:t>
            </a:r>
            <a:r>
              <a:rPr lang="en-US" dirty="0" smtClean="0"/>
              <a:t>(x);</a:t>
            </a:r>
          </a:p>
          <a:p>
            <a:r>
              <a:rPr lang="en-US" dirty="0" smtClean="0"/>
              <a:t>console.log(</a:t>
            </a:r>
            <a:r>
              <a:rPr lang="en-US" dirty="0" err="1" smtClean="0"/>
              <a:t>y.length</a:t>
            </a:r>
            <a:r>
              <a:rPr lang="en-US" dirty="0" smtClean="0"/>
              <a:t>)</a:t>
            </a:r>
          </a:p>
          <a:p>
            <a:endParaRPr lang="en-US" dirty="0" smtClean="0"/>
          </a:p>
          <a:p>
            <a:r>
              <a:rPr lang="en-US" dirty="0" smtClean="0"/>
              <a:t>let x = 1 &gt; 2 &gt; 3;</a:t>
            </a:r>
          </a:p>
          <a:p>
            <a:r>
              <a:rPr lang="en-US" dirty="0" smtClean="0"/>
              <a:t>console.log(x);</a:t>
            </a:r>
          </a:p>
          <a:p>
            <a:endParaRPr lang="en-US" dirty="0" smtClean="0"/>
          </a:p>
          <a:p>
            <a:r>
              <a:rPr lang="en-US" dirty="0" smtClean="0"/>
              <a:t>let x = false;</a:t>
            </a:r>
          </a:p>
          <a:p>
            <a:r>
              <a:rPr lang="en-US" dirty="0" smtClean="0"/>
              <a:t>let y = "0";</a:t>
            </a:r>
          </a:p>
          <a:p>
            <a:r>
              <a:rPr lang="en-US" dirty="0" smtClean="0"/>
              <a:t>let z = 0;</a:t>
            </a:r>
          </a:p>
          <a:p>
            <a:endParaRPr lang="en-US" dirty="0" smtClean="0"/>
          </a:p>
          <a:p>
            <a:r>
              <a:rPr lang="en-US" dirty="0" smtClean="0"/>
              <a:t>console.log(x == y);</a:t>
            </a:r>
          </a:p>
          <a:p>
            <a:r>
              <a:rPr lang="en-US" dirty="0" smtClean="0"/>
              <a:t>console.log(x == z);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let y = </a:t>
            </a:r>
            <a:r>
              <a:rPr lang="en-US" dirty="0" err="1" smtClean="0"/>
              <a:t>JSON.parse</a:t>
            </a:r>
            <a:r>
              <a:rPr lang="en-US" dirty="0" smtClean="0"/>
              <a:t>(x);</a:t>
            </a:r>
          </a:p>
          <a:p>
            <a:r>
              <a:rPr lang="en-US" dirty="0" smtClean="0"/>
              <a:t>console.log(</a:t>
            </a:r>
            <a:r>
              <a:rPr lang="en-US" dirty="0" err="1" smtClean="0"/>
              <a:t>typeof</a:t>
            </a:r>
            <a:r>
              <a:rPr lang="en-US" dirty="0" smtClean="0"/>
              <a:t> y);</a:t>
            </a:r>
          </a:p>
          <a:p>
            <a:endParaRPr lang="en-US" dirty="0" smtClean="0"/>
          </a:p>
          <a:p>
            <a:r>
              <a:rPr lang="en-US" dirty="0" smtClean="0"/>
              <a:t>let x = 0.1 + 0.2;</a:t>
            </a:r>
          </a:p>
          <a:p>
            <a:endParaRPr lang="en-US" dirty="0" smtClean="0"/>
          </a:p>
          <a:p>
            <a:r>
              <a:rPr lang="en-US" dirty="0" smtClean="0"/>
              <a:t>let x = '{ "b": 1, "c": 2 }';</a:t>
            </a:r>
          </a:p>
          <a:p>
            <a:r>
              <a:rPr lang="en-US" dirty="0" smtClean="0"/>
              <a:t>let y = 0.3;</a:t>
            </a:r>
          </a:p>
          <a:p>
            <a:r>
              <a:rPr lang="en-US" dirty="0" smtClean="0"/>
              <a:t>console.log(x ==</a:t>
            </a:r>
          </a:p>
          <a:p>
            <a:endParaRPr lang="en-US" dirty="0" smtClean="0"/>
          </a:p>
          <a:p>
            <a:r>
              <a:rPr lang="en-US" dirty="0" smtClean="0"/>
              <a:t>let x = [1, 2, 3];</a:t>
            </a:r>
          </a:p>
          <a:p>
            <a:endParaRPr lang="en-US" dirty="0" smtClean="0"/>
          </a:p>
          <a:p>
            <a:r>
              <a:rPr lang="en-US" dirty="0" smtClean="0"/>
              <a:t>console.log(</a:t>
            </a:r>
            <a:r>
              <a:rPr lang="en-US" dirty="0" err="1" smtClean="0"/>
              <a:t>typeof</a:t>
            </a:r>
            <a:r>
              <a:rPr lang="en-US" dirty="0" smtClean="0"/>
              <a:t> x);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let x = [];</a:t>
            </a:r>
          </a:p>
          <a:p>
            <a:r>
              <a:rPr lang="en-US" dirty="0" smtClean="0"/>
              <a:t>console.log(Boolean(x));</a:t>
            </a:r>
          </a:p>
          <a:p>
            <a:endParaRPr lang="en-US" dirty="0" smtClean="0"/>
          </a:p>
          <a:p>
            <a:r>
              <a:rPr lang="en-US" dirty="0" smtClean="0"/>
              <a:t>let x = Infinity;</a:t>
            </a:r>
          </a:p>
          <a:p>
            <a:r>
              <a:rPr lang="en-US" dirty="0" smtClean="0"/>
              <a:t>console.log(</a:t>
            </a:r>
            <a:r>
              <a:rPr lang="en-US" dirty="0" err="1" smtClean="0"/>
              <a:t>typeof</a:t>
            </a:r>
            <a:r>
              <a:rPr lang="en-US" dirty="0" smtClean="0"/>
              <a:t> x);</a:t>
            </a:r>
          </a:p>
          <a:p>
            <a:endParaRPr lang="en-US" dirty="0" smtClean="0"/>
          </a:p>
          <a:p>
            <a:r>
              <a:rPr lang="es-ES" dirty="0" err="1" smtClean="0"/>
              <a:t>let</a:t>
            </a:r>
            <a:r>
              <a:rPr lang="es-ES" dirty="0" smtClean="0"/>
              <a:t> x = "5";</a:t>
            </a:r>
          </a:p>
          <a:p>
            <a:r>
              <a:rPr lang="es-ES" dirty="0" err="1" smtClean="0"/>
              <a:t>let</a:t>
            </a:r>
            <a:r>
              <a:rPr lang="es-ES" dirty="0" smtClean="0"/>
              <a:t> y = 2;</a:t>
            </a:r>
          </a:p>
          <a:p>
            <a:endParaRPr lang="es-ES" dirty="0" smtClean="0"/>
          </a:p>
          <a:p>
            <a:r>
              <a:rPr lang="es-ES" dirty="0" smtClean="0"/>
              <a:t>console.log(x + y);</a:t>
            </a:r>
          </a:p>
          <a:p>
            <a:r>
              <a:rPr lang="es-ES" dirty="0" smtClean="0"/>
              <a:t>console.log(x - y);</a:t>
            </a:r>
          </a:p>
          <a:p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let a = () =&gt; {</a:t>
            </a:r>
          </a:p>
          <a:p>
            <a:r>
              <a:rPr lang="en-US" dirty="0" smtClean="0"/>
              <a:t>  console.log(this);</a:t>
            </a:r>
          </a:p>
          <a:p>
            <a:r>
              <a:rPr lang="en-US" dirty="0" smtClean="0"/>
              <a:t>};</a:t>
            </a:r>
          </a:p>
          <a:p>
            <a:endParaRPr lang="en-US" dirty="0" smtClean="0"/>
          </a:p>
          <a:p>
            <a:r>
              <a:rPr lang="en-US" dirty="0" smtClean="0"/>
              <a:t>a();</a:t>
            </a:r>
          </a:p>
          <a:p>
            <a:endParaRPr lang="en-US" dirty="0" smtClean="0"/>
          </a:p>
          <a:p>
            <a:r>
              <a:rPr lang="en-US" dirty="0" smtClean="0"/>
              <a:t>let x = "hello";</a:t>
            </a:r>
          </a:p>
          <a:p>
            <a:r>
              <a:rPr lang="en-US" dirty="0" smtClean="0"/>
              <a:t>let y = new String("hello");</a:t>
            </a:r>
          </a:p>
          <a:p>
            <a:endParaRPr lang="en-US" dirty="0" smtClean="0"/>
          </a:p>
          <a:p>
            <a:r>
              <a:rPr lang="en-US" dirty="0" smtClean="0"/>
              <a:t>console.log(x == y);</a:t>
            </a:r>
          </a:p>
          <a:p>
            <a:r>
              <a:rPr lang="en-US" dirty="0" smtClean="0"/>
              <a:t>console.log(x === y)</a:t>
            </a:r>
            <a:endParaRPr lang="en-US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olt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let x = [];</a:t>
            </a:r>
          </a:p>
          <a:p>
            <a:r>
              <a:rPr lang="en-US" dirty="0" smtClean="0"/>
              <a:t>let y = [];</a:t>
            </a:r>
          </a:p>
          <a:p>
            <a:r>
              <a:rPr lang="en-US" dirty="0" smtClean="0"/>
              <a:t>let z = x + y;</a:t>
            </a:r>
          </a:p>
          <a:p>
            <a:endParaRPr lang="en-US" dirty="0" smtClean="0"/>
          </a:p>
          <a:p>
            <a:r>
              <a:rPr lang="en-US" dirty="0" smtClean="0"/>
              <a:t>console.log(</a:t>
            </a:r>
            <a:r>
              <a:rPr lang="en-US" dirty="0" err="1" smtClean="0"/>
              <a:t>typeof</a:t>
            </a:r>
            <a:r>
              <a:rPr lang="en-US" dirty="0" smtClean="0"/>
              <a:t> z);</a:t>
            </a:r>
          </a:p>
          <a:p>
            <a:endParaRPr lang="en-US" dirty="0" smtClean="0"/>
          </a:p>
          <a:p>
            <a:r>
              <a:rPr lang="en-US" dirty="0" smtClean="0"/>
              <a:t>let x = true;</a:t>
            </a:r>
          </a:p>
          <a:p>
            <a:r>
              <a:rPr lang="en-US" dirty="0" smtClean="0"/>
              <a:t>let y = false;</a:t>
            </a:r>
          </a:p>
          <a:p>
            <a:r>
              <a:rPr lang="en-US" dirty="0" smtClean="0"/>
              <a:t>let z = x + y &amp;&amp; x * y;</a:t>
            </a:r>
          </a:p>
          <a:p>
            <a:endParaRPr lang="en-US" dirty="0" smtClean="0"/>
          </a:p>
          <a:p>
            <a:r>
              <a:rPr lang="en-US" dirty="0" smtClean="0"/>
              <a:t>console.log(z)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 smtClean="0"/>
              <a:t>let x = [1, 2, 3, 4, 5];</a:t>
            </a:r>
          </a:p>
          <a:p>
            <a:r>
              <a:rPr lang="en-US" dirty="0" smtClean="0"/>
              <a:t>let y = </a:t>
            </a:r>
            <a:r>
              <a:rPr lang="en-US" dirty="0" err="1" smtClean="0"/>
              <a:t>x.filter</a:t>
            </a:r>
            <a:r>
              <a:rPr lang="en-US" dirty="0" smtClean="0"/>
              <a:t>((n) =&gt; n &gt;= 3);</a:t>
            </a:r>
          </a:p>
          <a:p>
            <a:endParaRPr lang="en-US" dirty="0" smtClean="0"/>
          </a:p>
          <a:p>
            <a:r>
              <a:rPr lang="en-US" dirty="0" smtClean="0"/>
              <a:t>console.log(y);</a:t>
            </a:r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function </a:t>
            </a:r>
            <a:r>
              <a:rPr lang="en-US" dirty="0" err="1" smtClean="0"/>
              <a:t>foo</a:t>
            </a:r>
            <a:r>
              <a:rPr lang="en-US" dirty="0" smtClean="0"/>
              <a:t>(a, b) {</a:t>
            </a:r>
          </a:p>
          <a:p>
            <a:r>
              <a:rPr lang="en-US" dirty="0" smtClean="0"/>
              <a:t>  console.log(arguments[1]);</a:t>
            </a:r>
          </a:p>
          <a:p>
            <a:r>
              <a:rPr lang="en-US" dirty="0" smtClean="0"/>
              <a:t>}</a:t>
            </a:r>
          </a:p>
          <a:p>
            <a:endParaRPr lang="en-US" dirty="0" smtClean="0"/>
          </a:p>
          <a:p>
            <a:r>
              <a:rPr lang="en-US" dirty="0" err="1" smtClean="0"/>
              <a:t>foo</a:t>
            </a:r>
            <a:r>
              <a:rPr lang="en-US" dirty="0" smtClean="0"/>
              <a:t>(3);</a:t>
            </a:r>
            <a:endParaRPr lang="en-US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HEADERS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SERVER</a:t>
            </a:r>
            <a:endParaRPr lang="en-US" dirty="0"/>
          </a:p>
        </p:txBody>
      </p:sp>
      <p:sp>
        <p:nvSpPr>
          <p:cNvPr id="4" name="Rounded Rectangle 3"/>
          <p:cNvSpPr/>
          <p:nvPr/>
        </p:nvSpPr>
        <p:spPr>
          <a:xfrm>
            <a:off x="1500166" y="2143116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4000496" y="2357430"/>
            <a:ext cx="2428892" cy="264320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REQUEST</a:t>
            </a:r>
          </a:p>
          <a:p>
            <a:pPr algn="ctr"/>
            <a:r>
              <a:rPr lang="en-US" dirty="0" smtClean="0"/>
              <a:t>FROM:192.168.1.1</a:t>
            </a:r>
          </a:p>
          <a:p>
            <a:pPr algn="ctr"/>
            <a:r>
              <a:rPr lang="en-US" dirty="0" smtClean="0"/>
              <a:t>TO:10.1.1.2</a:t>
            </a:r>
          </a:p>
          <a:p>
            <a:pPr algn="ctr"/>
            <a:r>
              <a:rPr lang="en-US" dirty="0" smtClean="0"/>
              <a:t>CONTENT TYPE:JSON</a:t>
            </a:r>
          </a:p>
          <a:p>
            <a:pPr algn="ctr"/>
            <a:r>
              <a:rPr lang="en-US" dirty="0" smtClean="0"/>
              <a:t>FROM: PERSON A</a:t>
            </a:r>
          </a:p>
          <a:p>
            <a:pPr algn="ctr"/>
            <a:r>
              <a:rPr lang="en-US" dirty="0" smtClean="0"/>
              <a:t>TO:PROCESS B</a:t>
            </a:r>
          </a:p>
          <a:p>
            <a:pPr algn="ctr"/>
            <a:r>
              <a:rPr lang="en-US" dirty="0" smtClean="0"/>
              <a:t>WEIGHT:2000MS</a:t>
            </a:r>
          </a:p>
        </p:txBody>
      </p:sp>
      <p:cxnSp>
        <p:nvCxnSpPr>
          <p:cNvPr id="7" name="Elbow Connector 6"/>
          <p:cNvCxnSpPr/>
          <p:nvPr/>
        </p:nvCxnSpPr>
        <p:spPr>
          <a:xfrm>
            <a:off x="4286248" y="2357430"/>
            <a:ext cx="914400" cy="914400"/>
          </a:xfrm>
          <a:prstGeom prst="bentConnector3">
            <a:avLst/>
          </a:prstGeom>
          <a:ln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ight Arrow 7"/>
          <p:cNvSpPr/>
          <p:nvPr/>
        </p:nvSpPr>
        <p:spPr>
          <a:xfrm>
            <a:off x="4143372" y="2143116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DATA</a:t>
            </a:r>
            <a:endParaRPr lang="en-US" dirty="0"/>
          </a:p>
        </p:txBody>
      </p:sp>
      <p:sp>
        <p:nvSpPr>
          <p:cNvPr id="9" name="Up Arrow 8"/>
          <p:cNvSpPr/>
          <p:nvPr/>
        </p:nvSpPr>
        <p:spPr>
          <a:xfrm>
            <a:off x="6000760" y="4786322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HEADE</a:t>
            </a:r>
          </a:p>
          <a:p>
            <a:pPr algn="ctr"/>
            <a:r>
              <a:rPr lang="en-US" dirty="0" smtClean="0"/>
              <a:t>RS</a:t>
            </a:r>
            <a:endParaRPr lang="en-US" dirty="0"/>
          </a:p>
        </p:txBody>
      </p:sp>
      <p:sp>
        <p:nvSpPr>
          <p:cNvPr id="10" name="Smiley Face 9"/>
          <p:cNvSpPr/>
          <p:nvPr/>
        </p:nvSpPr>
        <p:spPr>
          <a:xfrm>
            <a:off x="7858148" y="2071678"/>
            <a:ext cx="914400" cy="914400"/>
          </a:xfrm>
          <a:prstGeom prst="smileyFac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CLIENT</a:t>
            </a:r>
            <a:endParaRPr lang="en-US" dirty="0"/>
          </a:p>
        </p:txBody>
      </p:sp>
      <p:sp>
        <p:nvSpPr>
          <p:cNvPr id="11" name="Oval 10"/>
          <p:cNvSpPr/>
          <p:nvPr/>
        </p:nvSpPr>
        <p:spPr>
          <a:xfrm>
            <a:off x="2357422" y="1857364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Up Arrow 11"/>
          <p:cNvSpPr/>
          <p:nvPr/>
        </p:nvSpPr>
        <p:spPr>
          <a:xfrm>
            <a:off x="4857752" y="4929198"/>
            <a:ext cx="484632" cy="978408"/>
          </a:xfrm>
          <a:prstGeom prst="up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/>
              <a:t>INFO</a:t>
            </a:r>
          </a:p>
          <a:p>
            <a:pPr algn="ctr"/>
            <a:r>
              <a:rPr lang="en-US" dirty="0" smtClean="0"/>
              <a:t>EXTRS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HEADERS 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HTTP HEADERS ARE AN IMPORTANT PART OF THE </a:t>
            </a:r>
            <a:r>
              <a:rPr lang="en-US" dirty="0" err="1" smtClean="0"/>
              <a:t>api</a:t>
            </a:r>
            <a:r>
              <a:rPr lang="en-US" dirty="0" smtClean="0"/>
              <a:t> request and response as they represent the meta data </a:t>
            </a:r>
            <a:r>
              <a:rPr lang="en-US" dirty="0" err="1" smtClean="0"/>
              <a:t>assosiated</a:t>
            </a:r>
            <a:r>
              <a:rPr lang="en-US" dirty="0" smtClean="0"/>
              <a:t> with the </a:t>
            </a:r>
            <a:r>
              <a:rPr lang="en-US" dirty="0" err="1" smtClean="0"/>
              <a:t>api</a:t>
            </a:r>
            <a:r>
              <a:rPr lang="en-US" dirty="0" smtClean="0"/>
              <a:t> requests and response.</a:t>
            </a:r>
          </a:p>
          <a:p>
            <a:r>
              <a:rPr lang="en-US" dirty="0" smtClean="0"/>
              <a:t>Headers carry information for the request and </a:t>
            </a:r>
            <a:r>
              <a:rPr lang="en-US" smtClean="0"/>
              <a:t>response body.</a:t>
            </a:r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EXPRESS MIDDLEWARE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mtClean="0"/>
              <a:t>CLIENT-&gt;REQ(GET /USERS)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00100" y="2071678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500694" y="2928934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urved Left Arrow 5"/>
          <p:cNvSpPr/>
          <p:nvPr/>
        </p:nvSpPr>
        <p:spPr>
          <a:xfrm>
            <a:off x="4143372" y="3357562"/>
            <a:ext cx="731520" cy="12161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 smtClean="0"/>
              <a:t>RES-&gt;MIDDLEWARE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FUNCTION (APP.GET(/USERS))</a:t>
            </a:r>
          </a:p>
          <a:p>
            <a:endParaRPr lang="en-US" dirty="0"/>
          </a:p>
          <a:p>
            <a:r>
              <a:rPr lang="en-US" dirty="0" smtClean="0"/>
              <a:t>FUNCTION APP.GET </a:t>
            </a:r>
          </a:p>
          <a:p>
            <a:r>
              <a:rPr lang="en-US" dirty="0" smtClean="0"/>
              <a:t>MIDDLEWARE FUNC</a:t>
            </a:r>
          </a:p>
          <a:p>
            <a:r>
              <a:rPr lang="en-US" dirty="0" smtClean="0"/>
              <a:t>RES</a:t>
            </a:r>
          </a:p>
          <a:p>
            <a:r>
              <a:rPr lang="en-US" dirty="0" smtClean="0"/>
              <a:t>RES</a:t>
            </a:r>
            <a:endParaRPr lang="en-US" dirty="0"/>
          </a:p>
        </p:txBody>
      </p:sp>
      <p:sp>
        <p:nvSpPr>
          <p:cNvPr id="5" name="Rounded Rectangle 4"/>
          <p:cNvSpPr/>
          <p:nvPr/>
        </p:nvSpPr>
        <p:spPr>
          <a:xfrm>
            <a:off x="6072198" y="3714752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/>
          <p:cNvSpPr/>
          <p:nvPr/>
        </p:nvSpPr>
        <p:spPr>
          <a:xfrm>
            <a:off x="857224" y="2714620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286116" y="3500438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ight Arrow 7"/>
          <p:cNvSpPr/>
          <p:nvPr/>
        </p:nvSpPr>
        <p:spPr>
          <a:xfrm>
            <a:off x="2214546" y="3286124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5214942" y="407194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Curved Left Arrow 9"/>
          <p:cNvSpPr/>
          <p:nvPr/>
        </p:nvSpPr>
        <p:spPr>
          <a:xfrm>
            <a:off x="3929058" y="4857760"/>
            <a:ext cx="731520" cy="12161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11" name="Curved Left Arrow 10"/>
          <p:cNvSpPr/>
          <p:nvPr/>
        </p:nvSpPr>
        <p:spPr>
          <a:xfrm>
            <a:off x="2071670" y="3500438"/>
            <a:ext cx="731520" cy="1216152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smtClean="0">
                <a:solidFill>
                  <a:schemeClr val="tx1"/>
                </a:solidFill>
              </a:rPr>
              <a:t>RES</a:t>
            </a:r>
            <a:endParaRPr lang="en-US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INTRO-&gt;CONTD.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smtClean="0"/>
              <a:t>M1-&gt;M2-&gt;M3-&gt;M4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 smtClean="0"/>
              <a:t>FUNC</a:t>
            </a:r>
            <a:endParaRPr lang="en-US" dirty="0"/>
          </a:p>
        </p:txBody>
      </p:sp>
      <p:sp>
        <p:nvSpPr>
          <p:cNvPr id="5" name="Rectangle 4"/>
          <p:cNvSpPr/>
          <p:nvPr/>
        </p:nvSpPr>
        <p:spPr>
          <a:xfrm>
            <a:off x="1142976" y="2357430"/>
            <a:ext cx="914400" cy="914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ight Arrow 5"/>
          <p:cNvSpPr/>
          <p:nvPr/>
        </p:nvSpPr>
        <p:spPr>
          <a:xfrm>
            <a:off x="2214546" y="2643182"/>
            <a:ext cx="978408" cy="48463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/>
          <p:cNvSpPr/>
          <p:nvPr/>
        </p:nvSpPr>
        <p:spPr>
          <a:xfrm>
            <a:off x="3571868" y="307181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Down Arrow 7"/>
          <p:cNvSpPr/>
          <p:nvPr/>
        </p:nvSpPr>
        <p:spPr>
          <a:xfrm>
            <a:off x="3643306" y="4214818"/>
            <a:ext cx="484632" cy="97840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/>
          <p:cNvSpPr/>
          <p:nvPr/>
        </p:nvSpPr>
        <p:spPr>
          <a:xfrm>
            <a:off x="3714744" y="5572140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Bent Arrow 9"/>
          <p:cNvSpPr/>
          <p:nvPr/>
        </p:nvSpPr>
        <p:spPr>
          <a:xfrm>
            <a:off x="4572000" y="5929330"/>
            <a:ext cx="813816" cy="868680"/>
          </a:xfrm>
          <a:prstGeom prst="ben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Left Arrow 10"/>
          <p:cNvSpPr/>
          <p:nvPr/>
        </p:nvSpPr>
        <p:spPr>
          <a:xfrm>
            <a:off x="3071802" y="5786454"/>
            <a:ext cx="978408" cy="484632"/>
          </a:xfrm>
          <a:prstGeom prst="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/>
          <p:cNvSpPr/>
          <p:nvPr/>
        </p:nvSpPr>
        <p:spPr>
          <a:xfrm>
            <a:off x="2357422" y="5857892"/>
            <a:ext cx="914400" cy="914400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ounded Rectangle 12"/>
          <p:cNvSpPr/>
          <p:nvPr/>
        </p:nvSpPr>
        <p:spPr>
          <a:xfrm>
            <a:off x="5643570" y="2071678"/>
            <a:ext cx="914400" cy="914400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Verve">
  <a:themeElements>
    <a:clrScheme name="Verve">
      <a:dk1>
        <a:sysClr val="windowText" lastClr="000000"/>
      </a:dk1>
      <a:lt1>
        <a:sysClr val="window" lastClr="FFFFFF"/>
      </a:lt1>
      <a:dk2>
        <a:srgbClr val="666666"/>
      </a:dk2>
      <a:lt2>
        <a:srgbClr val="D2D2D2"/>
      </a:lt2>
      <a:accent1>
        <a:srgbClr val="FF388C"/>
      </a:accent1>
      <a:accent2>
        <a:srgbClr val="E40059"/>
      </a:accent2>
      <a:accent3>
        <a:srgbClr val="9C007F"/>
      </a:accent3>
      <a:accent4>
        <a:srgbClr val="68007F"/>
      </a:accent4>
      <a:accent5>
        <a:srgbClr val="005BD3"/>
      </a:accent5>
      <a:accent6>
        <a:srgbClr val="00349E"/>
      </a:accent6>
      <a:hlink>
        <a:srgbClr val="17BBFD"/>
      </a:hlink>
      <a:folHlink>
        <a:srgbClr val="FF79C2"/>
      </a:folHlink>
    </a:clrScheme>
    <a:fontScheme name="Verve">
      <a:majorFont>
        <a:latin typeface="Century Gothic"/>
        <a:ea typeface=""/>
        <a:cs typeface=""/>
        <a:font script="Jpan" typeface="HGｺﾞｼｯｸM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</a:majorFont>
      <a:minorFont>
        <a:latin typeface="Century Gothic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Verve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shade val="48000"/>
                <a:satMod val="230000"/>
              </a:schemeClr>
            </a:gs>
            <a:gs pos="60000">
              <a:schemeClr val="phClr">
                <a:shade val="92000"/>
                <a:satMod val="230000"/>
              </a:schemeClr>
            </a:gs>
            <a:gs pos="100000">
              <a:schemeClr val="phClr">
                <a:tint val="85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1200"/>
                <a:satMod val="150000"/>
              </a:schemeClr>
              <a:schemeClr val="phClr">
                <a:tint val="90000"/>
                <a:satMod val="150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Verve</Template>
  <TotalTime>47</TotalTime>
  <Words>703</Words>
  <Application>Microsoft Office PowerPoint</Application>
  <PresentationFormat>On-screen Show (4:3)</PresentationFormat>
  <Paragraphs>177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Verve</vt:lpstr>
      <vt:lpstr>CONCEPTUAL PRACTISE</vt:lpstr>
      <vt:lpstr>OLT</vt:lpstr>
      <vt:lpstr>FAQs</vt:lpstr>
      <vt:lpstr>faqs</vt:lpstr>
      <vt:lpstr>olt</vt:lpstr>
      <vt:lpstr>olt</vt:lpstr>
      <vt:lpstr>olt</vt:lpstr>
      <vt:lpstr>olt</vt:lpstr>
      <vt:lpstr>olt</vt:lpstr>
      <vt:lpstr>HEADERS</vt:lpstr>
      <vt:lpstr>Slide 11</vt:lpstr>
      <vt:lpstr>HEADERS CONTD.</vt:lpstr>
      <vt:lpstr>EXPRESS MIDDLEWARE</vt:lpstr>
      <vt:lpstr>INTRO</vt:lpstr>
      <vt:lpstr>INTRO-&gt;CONTD.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CONCEPTUAL PRACTISE</dc:title>
  <dc:creator>Acer</dc:creator>
  <cp:lastModifiedBy>Acer</cp:lastModifiedBy>
  <cp:revision>4</cp:revision>
  <dcterms:created xsi:type="dcterms:W3CDTF">2024-12-02T04:55:11Z</dcterms:created>
  <dcterms:modified xsi:type="dcterms:W3CDTF">2024-12-05T09:30:19Z</dcterms:modified>
</cp:coreProperties>
</file>